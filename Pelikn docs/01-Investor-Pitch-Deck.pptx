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457200"/>
            <a:ext cx="182880" cy="182880"/>
          </a:xfrm>
          <a:prstGeom prst="ellipse">
            <a:avLst/>
          </a:prstGeom>
          <a:solidFill>
            <a:srgbClr val="C94F2A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venue.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B9CD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paperwork.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Food-safety compliance and team management for UK hospitality — one app, one subscription.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briefing · July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23760" y="4434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4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running hospitality weren't built for it.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food venue in the UK carries the same two burdens: proving compliance, and running a shifting team.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10512"/>
            <a:ext cx="475488" cy="475488"/>
          </a:xfrm>
          <a:prstGeom prst="ellipse">
            <a:avLst/>
          </a:prstGeom>
          <a:solidFill>
            <a:srgbClr val="1A3C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182" y="1938894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505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lives on paper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2999232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temps, cleaning records and allergen files sit in ring binders. When the EHO walks in, the venue's hygiene rating — and its reputation — depends on finding them.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810512"/>
            <a:ext cx="475488" cy="475488"/>
          </a:xfrm>
          <a:prstGeom prst="ellipse">
            <a:avLst/>
          </a:prstGeom>
          <a:solidFill>
            <a:srgbClr val="1A3C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822" y="1938894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4505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run on five apps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20440" y="2999232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in spreadsheets, shift changes on WhatsApp, clock-ins on another tool, HR files in a drawer. Nothing talks to anything, and nothing is auditable.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126480" y="15544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810512"/>
            <a:ext cx="475488" cy="475488"/>
          </a:xfrm>
          <a:prstGeom prst="ellipse">
            <a:avLst/>
          </a:prstGeom>
          <a:solidFill>
            <a:srgbClr val="1A3C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462" y="1938894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4505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pay in Sundays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55080" y="2999232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rota, the timesheets, the training logs — hours of unpaid admin every week, done by the most expensive person in the building.</a:t>
            </a:r>
            <a:endParaRPr lang="en-US" sz="1080" dirty="0"/>
          </a:p>
        </p:txBody>
      </p:sp>
      <p:sp>
        <p:nvSpPr>
          <p:cNvPr id="19" name="Text 14"/>
          <p:cNvSpPr/>
          <p:nvPr/>
        </p:nvSpPr>
        <p:spPr>
          <a:xfrm>
            <a:off x="457200" y="48143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 — INVESTOR BRIEFING · JULY 2026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8229600" y="48143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app. Both jobs.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 bundles the compliance record-keeping the EHO inspects with the team operations owners lose their weekends 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EDF2EE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37360"/>
            <a:ext cx="457200" cy="457200"/>
          </a:xfrm>
          <a:prstGeom prst="ellipse">
            <a:avLst/>
          </a:prstGeom>
          <a:solidFill>
            <a:srgbClr val="1A3C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86080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739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compliant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3520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logs — fridges, cooking, cooling, hot-holding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schedules, opening &amp; closing checks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 registry + public QR menus (Natasha's Law)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HACCP wizard, EHO-readiness audit &amp; mock inspection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PDF evidence packs for the inspector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81328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F6F1EA"/>
          </a:solidFill>
          <a:ln/>
        </p:spPr>
      </p:sp>
      <p:sp>
        <p:nvSpPr>
          <p:cNvPr id="10" name="Shape 7"/>
          <p:cNvSpPr/>
          <p:nvPr/>
        </p:nvSpPr>
        <p:spPr>
          <a:xfrm>
            <a:off x="4919472" y="1737360"/>
            <a:ext cx="457200" cy="457200"/>
          </a:xfrm>
          <a:prstGeom prst="ellipse">
            <a:avLst/>
          </a:prstGeom>
          <a:solidFill>
            <a:srgbClr val="C94F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916" y="186080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7739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team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37760" y="2331720"/>
            <a:ext cx="3520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rota builder with templates &amp; auto-fill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clock-in, break tracking, timesheets &amp; payroll export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Time-off, shift swaps and tip distribution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 with expiry alerts (SC6-aligned)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records, formal actions and staff noticeboard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“Stop worrying about the EHO”  ·  “Get your Sunday back”  ·  “See everything from anywhere”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48143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 — INVESTOR BRIEFING · JULY 2026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229600" y="48143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modules live today — not a roadmap.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rgbClr val="EDF2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773" y="1502725"/>
            <a:ext cx="176662" cy="176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183794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Fridge, cooking, cooling &amp; hot-holding temps · probe calibration · delivery checks · date labelling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1399032"/>
            <a:ext cx="384048" cy="384048"/>
          </a:xfrm>
          <a:prstGeom prst="ellipse">
            <a:avLst/>
          </a:prstGeom>
          <a:solidFill>
            <a:srgbClr val="EDF2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413" y="1502725"/>
            <a:ext cx="176662" cy="1766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50208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ops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74720" y="183794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rotas · opening/closing checks · pest control · incidents &amp; complaints · recalls · corrective actions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09360" y="1399032"/>
            <a:ext cx="384048" cy="384048"/>
          </a:xfrm>
          <a:prstGeom prst="ellipse">
            <a:avLst/>
          </a:prstGeom>
          <a:solidFill>
            <a:srgbClr val="EDF2E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053" y="1502725"/>
            <a:ext cx="176662" cy="1766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84848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Allergens &amp; PPDS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09360" y="183794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 registry · Natasha's Law PPDS labels · customer-facing QR allergen menu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57200" y="288036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044952"/>
            <a:ext cx="384048" cy="384048"/>
          </a:xfrm>
          <a:prstGeom prst="ellipse">
            <a:avLst/>
          </a:prstGeom>
          <a:solidFill>
            <a:srgbClr val="EDF2E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73" y="3148645"/>
            <a:ext cx="176662" cy="1766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&amp; time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0080" y="348386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builder &amp; templates · PIN clock-in · timesheets · payroll export · tips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3291840" y="288036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74720" y="3044952"/>
            <a:ext cx="384048" cy="384048"/>
          </a:xfrm>
          <a:prstGeom prst="ellipse">
            <a:avLst/>
          </a:prstGeom>
          <a:solidFill>
            <a:srgbClr val="EDF2E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413" y="3148645"/>
            <a:ext cx="176662" cy="1766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50208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HR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3474720" y="348386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 &amp; expiry alerts · time-off · shift swaps · HR files · noticeboard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126480" y="288036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309360" y="3044952"/>
            <a:ext cx="384048" cy="384048"/>
          </a:xfrm>
          <a:prstGeom prst="ellipse">
            <a:avLst/>
          </a:prstGeom>
          <a:solidFill>
            <a:srgbClr val="EDF2E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3053" y="3148645"/>
            <a:ext cx="176662" cy="17666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84848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309360" y="348386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Multi-venue · works offline · iOS &amp; Android · push notifications · PDF exports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serves web, iOS and Android — and keeps logging temps when the kitchen Wi-Fi drops.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48143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 — INVESTOR BRIEFING · JULY 2026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8229600" y="48143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underserved middle of the market.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ops platforms fight over chains and groups; paper still runs the independents. Pelikn targets the middle: </a:t>
            </a:r>
            <a:pPr indent="0" marL="0">
              <a:buNone/>
            </a:pPr>
            <a:r>
              <a:rPr lang="en-US" sz="13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venues and 2–10-site groups</a:t>
            </a:r>
            <a:pPr indent="0" marL="0">
              <a:buNone/>
            </a:pPr>
            <a:r>
              <a:rPr lang="en-US" sz="135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operators who need real compliance and team tooling but are priced out of per-site enterprise software.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UK food business must keep these records by law. </a:t>
            </a:r>
            <a:pPr indent="0" marL="0">
              <a:buNone/>
            </a:pPr>
            <a:r>
              <a:rPr lang="en-US" sz="12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Food-safety documentation isn't a nice-to-have we must convince the market to want — it's a legal obligation venues already spend hours on every week.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23560" y="11704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ARR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577840" y="35387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£264k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0" y="3831336"/>
            <a:ext cx="777240" cy="146304"/>
          </a:xfrm>
          <a:prstGeom prst="roundRect">
            <a:avLst>
              <a:gd name="adj" fmla="val 25000"/>
            </a:avLst>
          </a:prstGeom>
          <a:solidFill>
            <a:srgbClr val="1A3C2E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0" y="40507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venues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29400" y="310210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£1.3M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3394710"/>
            <a:ext cx="777240" cy="582930"/>
          </a:xfrm>
          <a:prstGeom prst="roundRect">
            <a:avLst>
              <a:gd name="adj" fmla="val 6275"/>
            </a:avLst>
          </a:prstGeom>
          <a:solidFill>
            <a:srgbClr val="1A3C2E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40507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venues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0" y="13533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£5.3M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1645920"/>
            <a:ext cx="777240" cy="2331720"/>
          </a:xfrm>
          <a:prstGeom prst="roundRect">
            <a:avLst>
              <a:gd name="adj" fmla="val 4706"/>
            </a:avLst>
          </a:prstGeom>
          <a:solidFill>
            <a:srgbClr val="C94F2A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40507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venues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23560" y="3977640"/>
            <a:ext cx="3108960" cy="0"/>
          </a:xfrm>
          <a:prstGeom prst="line">
            <a:avLst/>
          </a:prstGeom>
          <a:noFill/>
          <a:ln w="15875">
            <a:solidFill>
              <a:srgbClr val="C9D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43708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£22/mo per venue across tiers, extra sites and add-ons.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8143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 — INVESTOR BRIEFING · JULY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48143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where incumbents can't follow.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(The Access Group) — the category leader — bills per site. Pelikn bills for the first venue, then £15 per extra site.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011680"/>
                <a:gridCol w="3108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Pelikn (Pro)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Trail /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&amp; spreadsheets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4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4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£38 – £83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4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“Free” — until the EHO visit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4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4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£114 – £248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4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Unmanageable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4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4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£190 – £375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4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10128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EDF2EE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345643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win: </a:t>
            </a:r>
            <a:pPr indent="0" marL="0">
              <a:buNone/>
            </a:pPr>
            <a:r>
              <a:rPr lang="en-US" sz="110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team + HR (incumbents integrate third parties; we build it in) · opinionated UK EHO compliance out of the box · structural price advantage.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63440" y="3310128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7F6F3"/>
          </a:solidFill>
          <a:ln/>
        </p:spPr>
      </p:sp>
      <p:sp>
        <p:nvSpPr>
          <p:cNvPr id="8" name="Text 5"/>
          <p:cNvSpPr/>
          <p:nvPr/>
        </p:nvSpPr>
        <p:spPr>
          <a:xfrm>
            <a:off x="4892040" y="345643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 today: </a:t>
            </a:r>
            <a:pPr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ecosystems, IoT sensors, enterprise reporting. Deliberately not our first battle — we win the segment they price out.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8143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 — INVESTOR BRIEFING · JULY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143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pricing, built-in expansion.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81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7556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£10</a:t>
            </a:r>
            <a:pPr indent="0" marL="0">
              <a:buNone/>
            </a:pPr>
            <a:r>
              <a:rPr lang="en-US" sz="1050" dirty="0">
                <a:solidFill>
                  <a:srgbClr val="6E7B72"/>
                </a:solidFill>
              </a:rPr>
              <a:t> /mo per venue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487168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suite — temps, cleaning, allergens, checks, exports.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1A3C2E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481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9C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20440" y="17556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£25</a:t>
            </a:r>
            <a:pPr indent="0" marL="0">
              <a:buNone/>
            </a:pPr>
            <a:r>
              <a:rPr lang="en-US" sz="1050" dirty="0">
                <a:solidFill>
                  <a:srgbClr val="B9CDBF"/>
                </a:solidFill>
              </a:rPr>
              <a:t> /mo first venue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20440" y="2487168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 plus rota, clock-in, timesheets, training, HR.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2044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4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7F6F3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481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55080" y="17556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£15</a:t>
            </a:r>
            <a:pPr indent="0" marL="0">
              <a:buNone/>
            </a:pPr>
            <a:r>
              <a:rPr lang="en-US" sz="1050" dirty="0">
                <a:solidFill>
                  <a:srgbClr val="6E7B72"/>
                </a:solidFill>
              </a:rPr>
              <a:t> /mo per extra venue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355080" y="2487168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site on Pro. QR allergen menu add-on: £1/mo.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— </a:t>
            </a:r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gets the venue in at £10 — the record-keeping they're legally required to do anyway.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840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— </a:t>
            </a:r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 is the £10 → £25 upgrade; every new site is +£15/mo with near-zero marginal cost.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3840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— </a:t>
            </a:r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plans: pay 10 months, get 12. Years of compliance history make leaving expensive.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143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 — INVESTOR BRIEFING · JULY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143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Go-to-market: land where the trust already lives.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C94F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3075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Q3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51560" y="15179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— 0 to 100 venues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sales, hands-on onboarding, word-of-mouth in operator networks. Sub-5-minute setup, 7-day trial, no card.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457200" cy="457200"/>
          </a:xfrm>
          <a:prstGeom prst="ellipse">
            <a:avLst/>
          </a:prstGeom>
          <a:solidFill>
            <a:srgbClr val="1A3C2E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13075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86200" y="15179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— 100 to 300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EHO-consultant and trainer partnerships, referral programme, first paid channels aimed at post-inspection searches.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457200" cy="457200"/>
          </a:xfrm>
          <a:prstGeom prst="ellipse">
            <a:avLst/>
          </a:prstGeom>
          <a:solidFill>
            <a:srgbClr val="1A3C2E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13075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2027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20840" y="15179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— 300 to 1,000+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26480" y="19659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trade shows, Ireland expansion, targeted outbound to 2–10-site groups where the pricing wedge bites hardest.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10128"/>
            <a:ext cx="8229600" cy="0"/>
          </a:xfrm>
          <a:prstGeom prst="line">
            <a:avLst/>
          </a:prstGeom>
          <a:noFill/>
          <a:ln w="12700">
            <a:solidFill>
              <a:srgbClr val="E3E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56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SELL TO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Decisive Manager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had an EHO scare; wants records sorted this week, not this quarter.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3749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Time-Pressed Owner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rota every Sunday night; wants those hours back.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0" y="3749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Multi-Site Operator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sites, quoted per-site enterprise pricing; highest willingness to pay.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143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 — INVESTOR BRIEFING · JULY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143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Pelikn wins its segment.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475488" cy="475488"/>
          </a:xfrm>
          <a:prstGeom prst="ellipse">
            <a:avLst/>
          </a:prstGeom>
          <a:solidFill>
            <a:srgbClr val="C94F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582" y="1335390"/>
            <a:ext cx="218724" cy="2187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1887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Domain-first product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43000" y="1481328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hospitality operator. Opinionated UK EHO compliance out of the box — not a blank checklist builder the venue has to configure itself.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093976"/>
            <a:ext cx="475488" cy="475488"/>
          </a:xfrm>
          <a:prstGeom prst="ellipse">
            <a:avLst/>
          </a:prstGeom>
          <a:solidFill>
            <a:srgbClr val="C94F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82" y="2222358"/>
            <a:ext cx="218724" cy="2187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07568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products in one subscription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143000" y="2368296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the wedge; team operations is the lock-in. Competitors bolt on integrations — Pelikn builds both natively.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980944"/>
            <a:ext cx="475488" cy="475488"/>
          </a:xfrm>
          <a:prstGeom prst="ellipse">
            <a:avLst/>
          </a:prstGeom>
          <a:solidFill>
            <a:srgbClr val="C94F2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82" y="3109326"/>
            <a:ext cx="218724" cy="2187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9626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structure incumbents can't copy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143000" y="3255264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billing is the incumbents' revenue model. Matching £15-per-extra-venue would cannibalise their own base.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867912"/>
            <a:ext cx="475488" cy="475488"/>
          </a:xfrm>
          <a:prstGeom prst="ellipse">
            <a:avLst/>
          </a:prstGeom>
          <a:solidFill>
            <a:srgbClr val="C94F2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82" y="3996294"/>
            <a:ext cx="218724" cy="2187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84962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Capital-efficient velocity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143000" y="4142232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modules shipped and audited on near-zero burn, using AI-accelerated development. The roadmap ships in weeks, not quarters.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57200" y="48143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 — INVESTOR BRIEFING · JULY 2026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8229600" y="48143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launch.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 by design — the product was finished before the marketing switch is flipped. Public launch is the next milestone.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365760" cy="365760"/>
          </a:xfrm>
          <a:prstGeom prst="ellipse">
            <a:avLst/>
          </a:prstGeom>
          <a:solidFill>
            <a:srgbClr val="1A3C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" y="1580083"/>
            <a:ext cx="168250" cy="168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complete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" y="17190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modules live in production — no vapourware between the demo and the invoice.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481328"/>
            <a:ext cx="365760" cy="365760"/>
          </a:xfrm>
          <a:prstGeom prst="ellipse">
            <a:avLst/>
          </a:prstGeom>
          <a:solidFill>
            <a:srgbClr val="1A3C2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1580083"/>
            <a:ext cx="168250" cy="1682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9512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daily pilot use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239512" y="17190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independent UK venues log temps, build rotas and clock staff in on Pelikn today.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505456"/>
            <a:ext cx="365760" cy="365760"/>
          </a:xfrm>
          <a:prstGeom prst="ellipse">
            <a:avLst/>
          </a:prstGeom>
          <a:solidFill>
            <a:srgbClr val="1A3C2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" y="2604211"/>
            <a:ext cx="168250" cy="1682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7552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built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87552" y="2743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and Android apps ready from the same codebase; offline-first for kitchens with bad Wi-Fi.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09160" y="2505456"/>
            <a:ext cx="365760" cy="365760"/>
          </a:xfrm>
          <a:prstGeom prst="ellipse">
            <a:avLst/>
          </a:prstGeom>
          <a:solidFill>
            <a:srgbClr val="1A3C2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915" y="2604211"/>
            <a:ext cx="168250" cy="1682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39512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audited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239512" y="2743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audit (July 2026): venue-scoped access control, encrypted off-site backups, UK GDPR.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3529584"/>
            <a:ext cx="365760" cy="365760"/>
          </a:xfrm>
          <a:prstGeom prst="ellipse">
            <a:avLst/>
          </a:prstGeom>
          <a:solidFill>
            <a:srgbClr val="1A3C2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55" y="3628339"/>
            <a:ext cx="168250" cy="1682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87552" y="3493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funnel live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987552" y="37673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free trial, no card, rate-limited signup, sub-5-minute onboarding.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709160" y="3529584"/>
            <a:ext cx="365760" cy="365760"/>
          </a:xfrm>
          <a:prstGeom prst="ellipse">
            <a:avLst/>
          </a:prstGeom>
          <a:solidFill>
            <a:srgbClr val="1A3C2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7915" y="3628339"/>
            <a:ext cx="168250" cy="1682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39512" y="3493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site live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239512" y="37673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 with real product screenshots, annual billing (pay 10, get 12).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57200" y="48143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 — INVESTOR BRIEFING · JULY 2026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8229600" y="48143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deepen the moat, then widen it.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EDF2EE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4630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368" y="1576608"/>
            <a:ext cx="193487" cy="1934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36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2029968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 + App Store / Play Store release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content engine for post-inspection searches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Real-screenshot marketing refresh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6F1EA"/>
          </a:solidFill>
          <a:ln/>
        </p:spPr>
      </p:sp>
      <p:sp>
        <p:nvSpPr>
          <p:cNvPr id="9" name="Shape 6"/>
          <p:cNvSpPr/>
          <p:nvPr/>
        </p:nvSpPr>
        <p:spPr>
          <a:xfrm>
            <a:off x="3520440" y="14630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008" y="1576608"/>
            <a:ext cx="193487" cy="1934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1536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47872" y="2029968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rota assistant — Claude-powered engine already built server-side; wiring into the builder UI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Multi-venue reporting pack for group operators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owner digest &amp; benchmarks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7F6F3"/>
          </a:solidFill>
          <a:ln/>
        </p:spPr>
      </p:sp>
      <p:sp>
        <p:nvSpPr>
          <p:cNvPr id="14" name="Shape 10"/>
          <p:cNvSpPr/>
          <p:nvPr/>
        </p:nvSpPr>
        <p:spPr>
          <a:xfrm>
            <a:off x="6355080" y="14630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648" y="1576608"/>
            <a:ext cx="193487" cy="1934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1536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82512" y="2029968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fridge sensors — integrate best-in-class hardware rather than build it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ePOS &amp; payroll integrations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command dashboard for 10+ site groups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follows the competitor gap: sensors, reporting and integrations are what growing groups miss first.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48143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 — INVESTOR BRIEFING · JULY 2026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8229600" y="48143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from inside the industry.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371600" cy="1371600"/>
          </a:xfrm>
          <a:prstGeom prst="ellipse">
            <a:avLst/>
          </a:prstGeom>
          <a:solidFill>
            <a:srgbClr val="1A3C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286000" y="15179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Darragh Guy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4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· Product Lead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86000" y="22860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professional with years of hands-on hospitality experience — Pelikn is the tool he needed when he was the one closing the kitchen. Every module started as a real operational problem he managed in person, not a requirements document.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7955280" cy="1234440"/>
          </a:xfrm>
          <a:prstGeom prst="roundRect">
            <a:avLst>
              <a:gd name="adj" fmla="val 5926"/>
            </a:avLst>
          </a:prstGeom>
          <a:solidFill>
            <a:srgbClr val="EDF2EE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3456432"/>
            <a:ext cx="7452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domain-first founder matters here: </a:t>
            </a:r>
            <a:pPr indent="0" marL="0">
              <a:buNone/>
            </a:pPr>
            <a:r>
              <a:rPr lang="en-US" sz="1150" dirty="0">
                <a:solidFill>
                  <a:srgbClr val="3A4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compliance software, knowing exactly what an EHO asks for — and what a Saturday-night rota actually breaks on — is the product. AI-accelerated engineering keeps the build fast and the burn near zero while the domain expertise sets the direction.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8143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 — INVESTOR BRIEFING · JULY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143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is the wedge.</a:t>
            </a:r>
            <a:endParaRPr lang="en-US" sz="4000" dirty="0"/>
          </a:p>
          <a:p>
            <a:pPr algn="ctr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B9CD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ops is the lock-in.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 — run the venue, not the paperwork.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pelikn.app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0560" y="640080"/>
            <a:ext cx="182880" cy="182880"/>
          </a:xfrm>
          <a:prstGeom prst="ellipse">
            <a:avLst/>
          </a:prstGeom>
          <a:solidFill>
            <a:srgbClr val="C94F2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Pelikn — Investor Pitch</dc:title>
  <dc:subject>PptxGenJS Presentation</dc:subject>
  <dc:creator>Pelikn</dc:creator>
  <cp:lastModifiedBy>Pelikn</cp:lastModifiedBy>
  <cp:revision>1</cp:revision>
  <dcterms:created xsi:type="dcterms:W3CDTF">2026-07-02T19:39:47Z</dcterms:created>
  <dcterms:modified xsi:type="dcterms:W3CDTF">2026-07-02T19:39:47Z</dcterms:modified>
</cp:coreProperties>
</file>