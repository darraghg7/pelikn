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97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2D9F6D">
              <a:alpha val="12000"/>
            </a:srgbClr>
          </a:solidFill>
          <a:ln w="12700">
            <a:solidFill>
              <a:srgbClr val="2D9F6D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80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SafeServ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1097280" cy="64008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Safety Compliance, Simplified.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digital operations platform for hospitality venues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9F6D">
              <a:alpha val="15000"/>
            </a:srgbClr>
          </a:solidFill>
          <a:ln w="12700">
            <a:solidFill>
              <a:srgbClr val="2D9F6D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safety compliance is broken.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300,000+ UK hospitality venues still rely on paper logs, clipboards and spreadsheets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food safety — creating risk, waste and regulatory exposure.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05740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057400"/>
            <a:ext cx="260604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12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02920" y="34015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fail their first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inspection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205740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2057400"/>
            <a:ext cx="260604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21284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£20K+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3337560" y="34015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food safety incident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205740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2057400"/>
            <a:ext cx="2606040" cy="64008"/>
          </a:xfrm>
          <a:prstGeom prst="rect">
            <a:avLst/>
          </a:prstGeom>
          <a:solidFill>
            <a:srgbClr val="4A5A56"/>
          </a:solidFill>
          <a:ln w="12700">
            <a:solidFill>
              <a:srgbClr val="4A5A5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128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6172200" y="34015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venues still 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4636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inspection failure, enforcement action or food safety incident starts with poor record-keeping.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32588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SafeServ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28600" y="2971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compliance check.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389120" y="457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paper with a connected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platform.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370832" y="1764792"/>
            <a:ext cx="182880" cy="18288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logs for every temperature check, cleaning task and delivery inspection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2313432"/>
            <a:ext cx="182880" cy="18288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score with instant visibility across all checks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0832" y="2862072"/>
            <a:ext cx="182880" cy="18288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corrective action workflows — issues logged, tracked and closed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70832" y="3410712"/>
            <a:ext cx="182880" cy="18288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3337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audit-ready records at the tap of a button, any time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70832" y="3959352"/>
            <a:ext cx="182880" cy="18288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venue — only show the features relevant to your business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venue needs,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place.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64008" cy="16002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664208"/>
            <a:ext cx="384048" cy="384048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4650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" y="2121408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cooking, reheating, hot holding and cooling logs — all in one place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463040"/>
            <a:ext cx="64008" cy="16002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10712" y="1664208"/>
            <a:ext cx="384048" cy="384048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74650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Checks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74136" y="2121408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condition checks on every incoming delivery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463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463040"/>
            <a:ext cx="64008" cy="16002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91072" y="1664208"/>
            <a:ext cx="384048" cy="384048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74650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84848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Checks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54496" y="2121408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cleaning tasks, opening/closing checklists with completion tracking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32004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3200400"/>
            <a:ext cx="64008" cy="16002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0352" y="3401568"/>
            <a:ext cx="384048" cy="384048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48386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2412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3776" y="3858768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inspections, sightings and treatments. Open issues tracked to resolution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46120" y="32004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46120" y="3200400"/>
            <a:ext cx="64008" cy="16002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10712" y="3401568"/>
            <a:ext cx="384048" cy="384048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48386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0448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74136" y="3858768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builder, timesheets, training records, time-off requests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26480" y="32004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3200400"/>
            <a:ext cx="64008" cy="16002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91072" y="3401568"/>
            <a:ext cx="384048" cy="384048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483864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8484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Ready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54496" y="3858768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 dashboard and full audit trail exportable at any time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and running in minutes.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SafeServ is designed for busy teams — no training required, works on any device.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27632" y="2670048"/>
            <a:ext cx="5897880" cy="0"/>
          </a:xfrm>
          <a:prstGeom prst="line">
            <a:avLst/>
          </a:prstGeom>
          <a:noFill/>
          <a:ln w="25400">
            <a:solidFill>
              <a:srgbClr val="D0E8D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71600" y="2057400"/>
            <a:ext cx="822960" cy="82296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2651760" cy="1920240"/>
          </a:xfrm>
          <a:prstGeom prst="rect">
            <a:avLst/>
          </a:prstGeom>
          <a:solidFill>
            <a:srgbClr val="F5F0E8"/>
          </a:solidFill>
          <a:ln w="12700">
            <a:solidFill>
              <a:srgbClr val="E0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09067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" y="3520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Venue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2648" y="404164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name your venue and configure which features apply to your business in minutes.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2057400"/>
            <a:ext cx="822960" cy="82296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46120" y="2971800"/>
            <a:ext cx="2651760" cy="1920240"/>
          </a:xfrm>
          <a:prstGeom prst="rect">
            <a:avLst/>
          </a:prstGeom>
          <a:solidFill>
            <a:srgbClr val="F5F0E8"/>
          </a:solidFill>
          <a:ln w="12700">
            <a:solidFill>
              <a:srgbClr val="E0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30906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3520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Daily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355848" y="404164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 temperature checks, deliveries and cleaning tasks from any phone, tablet or PC.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858000" y="2057400"/>
            <a:ext cx="822960" cy="82296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989320" y="2971800"/>
            <a:ext cx="2651760" cy="1920240"/>
          </a:xfrm>
          <a:prstGeom prst="rect">
            <a:avLst/>
          </a:prstGeom>
          <a:solidFill>
            <a:srgbClr val="F5F0E8"/>
          </a:solidFill>
          <a:ln w="12700">
            <a:solidFill>
              <a:srgbClr val="E0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309067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99048" y="3520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099048" y="404164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real-time compliance score updates automatically. EHO-ready records always at hand.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2D9F6D">
              <a:alpha val="10000"/>
            </a:srgbClr>
          </a:solidFill>
          <a:ln w="12700">
            <a:solidFill>
              <a:srgbClr val="2D9F6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0"/>
            <a:ext cx="2743200" cy="2743200"/>
          </a:xfrm>
          <a:prstGeom prst="ellipse">
            <a:avLst/>
          </a:prstGeom>
          <a:solidFill>
            <a:srgbClr val="2D9F6D">
              <a:alpha val="18000"/>
            </a:srgbClr>
          </a:solidFill>
          <a:ln w="12700">
            <a:solidFill>
              <a:srgbClr val="2D9F6D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underserved market.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UK's 300,000+ hospitality venues are legally required to maintain food safety records.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still do it on paper.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2606040" cy="260604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011680"/>
            <a:ext cx="2606040" cy="54864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84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£72M+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 UK venues × £20/mo base 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2606040" cy="260604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011680"/>
            <a:ext cx="2606040" cy="54864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084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423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£22M+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337560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Market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~92K SME venues with 5–50 staff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011680"/>
            <a:ext cx="2606040" cy="260604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011680"/>
            <a:ext cx="2606040" cy="54864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084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423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£600K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172200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venues × £25/mo avg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tailwinds: Natasha's Law (2021) · EHO digital record push · Post-Covid hygiene awareness · Rising labour costs → need for efficiency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recurring SaaS revenue.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Per-venue monthly subscription. No setup fees. No per-user pricing. Start with core compliance — add team management when you need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4114800" cy="301752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91640"/>
            <a:ext cx="4114800" cy="347472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COMPLIANCE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per 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3558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temperature logs — fridge, cooking, hot holding &amp; cooling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630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Delivery, probe calibration &amp; allergen records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" y="39044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Cleaning schedules, checklists &amp; pest control logs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" y="41788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EHO-ready audit trail export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44531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staff logins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2852928"/>
            <a:ext cx="548640" cy="548640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74920" y="1691640"/>
            <a:ext cx="3657600" cy="301752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0" y="1691640"/>
            <a:ext cx="365760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ADD-ON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+£10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521208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per venue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3227832"/>
            <a:ext cx="338328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3355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rota builder &amp; shift scheduling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39512" y="36301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Timesheets &amp; hours reporting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39512" y="39044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Training records &amp; certificates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39512" y="4178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Time-off request management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C0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7457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£25/mo avg (60% take Team add-on) × 2,000 venues = £600K ARR  |  Low churn: compliance tools are embedded in daily 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hospitality.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adapted for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7589520" cy="384048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1188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Excel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3796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SafeServ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92808"/>
            <a:ext cx="7589520" cy="384048"/>
          </a:xfrm>
          <a:prstGeom prst="rect">
            <a:avLst/>
          </a:prstGeom>
          <a:solidFill>
            <a:srgbClr val="F8F5F0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EHO-specific compliance logs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892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892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892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276856"/>
            <a:ext cx="7589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768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2660904"/>
            <a:ext cx="7589520" cy="384048"/>
          </a:xfrm>
          <a:prstGeom prst="rect">
            <a:avLst/>
          </a:prstGeom>
          <a:solidFill>
            <a:srgbClr val="F8F5F0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60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&amp; hot holding checks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044952"/>
            <a:ext cx="7589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 tracking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3044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044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3044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" y="3429000"/>
            <a:ext cx="7589520" cy="384048"/>
          </a:xfrm>
          <a:prstGeom prst="rect">
            <a:avLst/>
          </a:prstGeom>
          <a:solidFill>
            <a:srgbClr val="F8F5F0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29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1188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3796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1480" y="3813048"/>
            <a:ext cx="7589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13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rota + training in one app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1188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7492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3796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1480" y="4197096"/>
            <a:ext cx="7589520" cy="384048"/>
          </a:xfrm>
          <a:prstGeom prst="rect">
            <a:avLst/>
          </a:prstGeom>
          <a:solidFill>
            <a:srgbClr val="F8F5F0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197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on any device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11880" y="4197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74920" y="4197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37960" y="4197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46720" y="1508760"/>
            <a:ext cx="640080" cy="3072384"/>
          </a:xfrm>
          <a:prstGeom prst="rect">
            <a:avLst/>
          </a:prstGeom>
          <a:solidFill>
            <a:srgbClr val="2D9F6D">
              <a:alpha val="12000"/>
            </a:srgbClr>
          </a:solidFill>
          <a:ln w="12700">
            <a:solidFill>
              <a:srgbClr val="2D9F6D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 rot="16200000">
            <a:off x="8065008" y="2011680"/>
            <a:ext cx="603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SafeServ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Deployed. Growing.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931920" cy="352044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3931920" cy="54864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46304" cy="146304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556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PWA — works on any device, installable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46304" cy="146304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compliance modules live (temp, pest, allergens…)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146304" cy="146304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420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PIN-based multi-staff auth with manager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146304" cy="146304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352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score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146304" cy="146304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284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Per-venue feature configuration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13048"/>
            <a:ext cx="146304" cy="146304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216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trail with PDF export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46304" cy="146304"/>
          </a:xfrm>
          <a:prstGeom prst="ellipse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Multi-venue architecture ready to scale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234440"/>
            <a:ext cx="3931920" cy="352044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234440"/>
            <a:ext cx="393192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828800"/>
            <a:ext cx="804672" cy="246888"/>
          </a:xfrm>
          <a:prstGeom prst="rect">
            <a:avLst/>
          </a:prstGeom>
          <a:solidFill>
            <a:srgbClr val="E8A838">
              <a:alpha val="18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8196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33872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 — first paying venues onboarded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221992"/>
            <a:ext cx="804672" cy="246888"/>
          </a:xfrm>
          <a:prstGeom prst="rect">
            <a:avLst/>
          </a:prstGeom>
          <a:solidFill>
            <a:srgbClr val="E8A838">
              <a:alpha val="18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2128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33872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native app wrappers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615184"/>
            <a:ext cx="804672" cy="246888"/>
          </a:xfrm>
          <a:prstGeom prst="rect">
            <a:avLst/>
          </a:prstGeom>
          <a:solidFill>
            <a:srgbClr val="E8A838">
              <a:alpha val="18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6060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33872" y="2569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 &amp; approved supplier list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3008376"/>
            <a:ext cx="804672" cy="246888"/>
          </a:xfrm>
          <a:prstGeom prst="rect">
            <a:avLst/>
          </a:prstGeom>
          <a:solidFill>
            <a:srgbClr val="E8A838">
              <a:alpha val="18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9992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33872" y="2962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Multi-venue group dashboard for chains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401568"/>
            <a:ext cx="804672" cy="246888"/>
          </a:xfrm>
          <a:prstGeom prst="rect">
            <a:avLst/>
          </a:prstGeom>
          <a:solidFill>
            <a:srgbClr val="E8A838">
              <a:alpha val="18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3924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33872" y="3355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EPOS &amp; ordering platform integrations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794760"/>
            <a:ext cx="804672" cy="246888"/>
          </a:xfrm>
          <a:prstGeom prst="rect">
            <a:avLst/>
          </a:prstGeom>
          <a:solidFill>
            <a:srgbClr val="E8A838">
              <a:alpha val="18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7856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33872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compliance insights &amp; anomaly alerts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4187952"/>
            <a:ext cx="804672" cy="246888"/>
          </a:xfrm>
          <a:prstGeom prst="rect">
            <a:avLst/>
          </a:prstGeom>
          <a:solidFill>
            <a:srgbClr val="E8A838">
              <a:alpha val="18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1788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33872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of Ireland &amp; EU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D9F6D">
              <a:alpha val="8000"/>
            </a:srgbClr>
          </a:solidFill>
          <a:ln w="12700">
            <a:solidFill>
              <a:srgbClr val="2D9F6D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raising a seed round.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13716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£250,000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  ·  ~20% equity offered  ·  £1M pre-money valuation  ·  SEIS/EIS eligible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017520"/>
            <a:ext cx="2606040" cy="173736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9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apps, API integrations, AI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3017520"/>
            <a:ext cx="2606040" cy="173736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9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337560" y="3749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sales hire, digital marketing, trade shows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3017520"/>
            <a:ext cx="2606040" cy="173736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9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72200" y="3749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infrastructure, compliance, customer success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97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0749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-731520"/>
            <a:ext cx="4572000" cy="4572000"/>
          </a:xfrm>
          <a:prstGeom prst="ellipse">
            <a:avLst/>
          </a:prstGeom>
          <a:solidFill>
            <a:srgbClr val="2D9F6D">
              <a:alpha val="12000"/>
            </a:srgbClr>
          </a:solidFill>
          <a:ln w="12700">
            <a:solidFill>
              <a:srgbClr val="2D9F6D">
                <a:alpha val="18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502920" y="73152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5568" y="749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SafeServ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0292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5600" dirty="0"/>
          </a:p>
        </p:txBody>
      </p:sp>
      <p:sp>
        <p:nvSpPr>
          <p:cNvPr id="15" name="Shape 12"/>
          <p:cNvSpPr/>
          <p:nvPr/>
        </p:nvSpPr>
        <p:spPr>
          <a:xfrm>
            <a:off x="502920" y="2423160"/>
            <a:ext cx="914400" cy="64008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606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SafeServ is redefining how hospitality venues manage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safety compliance — one venue at a time.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" y="3520440"/>
            <a:ext cx="5029200" cy="1371600"/>
          </a:xfrm>
          <a:prstGeom prst="rect">
            <a:avLst/>
          </a:prstGeom>
          <a:solidFill>
            <a:srgbClr val="222220"/>
          </a:solidFill>
          <a:ln w="12700">
            <a:solidFill>
              <a:srgbClr val="3636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520440"/>
            <a:ext cx="64008" cy="1371600"/>
          </a:xfrm>
          <a:prstGeom prst="rect">
            <a:avLst/>
          </a:prstGeom>
          <a:solidFill>
            <a:srgbClr val="2D9F6D"/>
          </a:solidFill>
          <a:ln w="12700">
            <a:solidFill>
              <a:srgbClr val="2D9F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584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9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39136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hello@safeserv.app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94360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safeserv.app  ·  Available for meetings at your convenience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9F6D">
              <a:alpha val="15000"/>
            </a:srgbClr>
          </a:solidFill>
          <a:ln w="12700">
            <a:solidFill>
              <a:srgbClr val="2D9F6D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USE ONLY  ·  © 2026 SafeServ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SafeServ – Investor Pitch Deck</dc:title>
  <dc:subject>PptxGenJS Presentation</dc:subject>
  <dc:creator>SafeServ</dc:creator>
  <cp:lastModifiedBy>SafeServ</cp:lastModifiedBy>
  <cp:revision>1</cp:revision>
  <dcterms:created xsi:type="dcterms:W3CDTF">2026-03-20T23:01:26Z</dcterms:created>
  <dcterms:modified xsi:type="dcterms:W3CDTF">2026-03-20T23:01:26Z</dcterms:modified>
</cp:coreProperties>
</file>